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Lato"/>
      <p:regular r:id="rId22"/>
      <p:bold r:id="rId23"/>
      <p:italic r:id="rId24"/>
      <p:boldItalic r:id="rId25"/>
    </p:embeddedFont>
    <p:embeddedFont>
      <p:font typeface="Poppi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Lato-regular.fntdata"/><Relationship Id="rId21" Type="http://schemas.openxmlformats.org/officeDocument/2006/relationships/slide" Target="slides/slide16.xml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regular.fntdata"/><Relationship Id="rId25" Type="http://schemas.openxmlformats.org/officeDocument/2006/relationships/font" Target="fonts/Lato-boldItalic.fntdata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43d2f914d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43d2f914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43d2f914d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e43d2f914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43d2f914d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e43d2f914d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43d2f914d_0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e43d2f914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43d2f914d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e43d2f914d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e43d2f914d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e43d2f914d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43d2f914d_0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e43d2f914d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23.png"/><Relationship Id="rId5" Type="http://schemas.openxmlformats.org/officeDocument/2006/relationships/image" Target="../media/image16.png"/><Relationship Id="rId6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623119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Lato"/>
                <a:ea typeface="Lato"/>
                <a:cs typeface="Lato"/>
                <a:sym typeface="Lato"/>
              </a:rPr>
              <a:t>АНАЛИЗ </a:t>
            </a:r>
            <a:r>
              <a:rPr b="1" lang="en-US" sz="1500">
                <a:solidFill>
                  <a:srgbClr val="0F766E"/>
                </a:solidFill>
                <a:latin typeface="Lato"/>
                <a:ea typeface="Lato"/>
                <a:cs typeface="Lato"/>
                <a:sym typeface="Lato"/>
              </a:rPr>
              <a:t>ИГРЫ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2099372"/>
            <a:ext cx="92733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Zombie Revolution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0045350" y="5703875"/>
            <a:ext cx="196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Курсовой проект</a:t>
            </a:r>
            <a:endParaRPr b="1" sz="1800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Семеновой Софии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571500"/>
            <a:ext cx="3526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Общие показатели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71500" y="1238250"/>
            <a:ext cx="2288827" cy="28575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1518087"/>
            <a:ext cx="52389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Zombie Revolution — это многопользовательский пиксельный 3D шутер с элементами выживания в условиях зомби-апокалипсиса.</a:t>
            </a:r>
            <a:endParaRPr i="0" sz="1500" u="none" cap="none" strike="noStrike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475569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Три уникальных игровых режима</a:t>
            </a:r>
            <a:endParaRPr sz="1500">
              <a:solidFill>
                <a:srgbClr val="475569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475569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Механики поиска ресурсов (еда, питье)</a:t>
            </a:r>
            <a:endParaRPr sz="1500">
              <a:solidFill>
                <a:srgbClr val="475569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475569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Строительство собственных убежищ</a:t>
            </a:r>
            <a:endParaRPr sz="1500">
              <a:solidFill>
                <a:srgbClr val="475569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475569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Проверка навыков выживания в городе</a:t>
            </a:r>
            <a:endParaRPr sz="1500">
              <a:solidFill>
                <a:srgbClr val="475569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952500" y="3938587"/>
            <a:ext cx="485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52500" y="4795837"/>
            <a:ext cx="485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023275" y="2162550"/>
            <a:ext cx="4673400" cy="26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Количество игроков  -  3101 . 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Первая дата регистрации игрока - 1 июля 2022 г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Последняя регистрация была 30 марта 2023 г. 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При этом клиентов с неопределенным временем регистрации у нас нет.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Есть пользователи, которые зарегистрировались по 2 и 4 раза .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86586" l="0" r="0" t="0"/>
          <a:stretch/>
        </p:blipFill>
        <p:spPr>
          <a:xfrm>
            <a:off x="571500" y="1647825"/>
            <a:ext cx="11049000" cy="62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571500" y="571500"/>
            <a:ext cx="5017189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ДИНАМИКА РЕГИСТРАЦИЙ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571500" y="1238250"/>
            <a:ext cx="4778275" cy="28575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571500" y="1871662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О</a:t>
            </a:r>
            <a:r>
              <a:rPr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бщее количество игроков: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3 101</a:t>
            </a:r>
            <a:r>
              <a:rPr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человек. Наблюдается резкий рост активности в начале 2023 года.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5872162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Рост регистраций с декабря 2022 по март 2023 года.</a:t>
            </a:r>
            <a:endParaRPr/>
          </a:p>
        </p:txBody>
      </p:sp>
      <p:pic>
        <p:nvPicPr>
          <p:cNvPr id="109" name="Google Shape;10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65213" y="2374513"/>
            <a:ext cx="5645324" cy="339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314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571500" y="571500"/>
            <a:ext cx="5448649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ТЕХНИЧЕСКИЕ ПОКАЗАТЕЛИ</a:t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571500" y="1238250"/>
            <a:ext cx="5189190" cy="28575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872200" y="1851900"/>
            <a:ext cx="3000000" cy="24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Суммарное количество сессий за все время составило 27161.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Сессии более 1 часа 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18" name="Google Shape;11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8025" y="2064025"/>
            <a:ext cx="5676901" cy="376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/>
          <p:nvPr/>
        </p:nvSpPr>
        <p:spPr>
          <a:xfrm>
            <a:off x="2974975" y="3942750"/>
            <a:ext cx="2091000" cy="346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4A3B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/>
        </p:nvSpPr>
        <p:spPr>
          <a:xfrm>
            <a:off x="6381750" y="3195637"/>
            <a:ext cx="550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Профили ошибок по ОС:</a:t>
            </a:r>
            <a:endParaRPr/>
          </a:p>
        </p:txBody>
      </p:sp>
      <p:grpSp>
        <p:nvGrpSpPr>
          <p:cNvPr id="125" name="Google Shape;125;p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descr="image.png" id="126" name="Google Shape;126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Google Shape;127;p17"/>
            <p:cNvSpPr txBox="1"/>
            <p:nvPr/>
          </p:nvSpPr>
          <p:spPr>
            <a:xfrm>
              <a:off x="571500" y="571500"/>
              <a:ext cx="544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ТЕХНИЧЕСКИЕ ПОКАЗАТЕЛИ</a:t>
              </a:r>
              <a:endParaRPr/>
            </a:p>
          </p:txBody>
        </p:sp>
      </p:grpSp>
      <p:sp>
        <p:nvSpPr>
          <p:cNvPr id="128" name="Google Shape;128;p17"/>
          <p:cNvSpPr txBox="1"/>
          <p:nvPr/>
        </p:nvSpPr>
        <p:spPr>
          <a:xfrm>
            <a:off x="6381750" y="3757612"/>
            <a:ext cx="523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iOS (Критично)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97%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6381750" y="4348162"/>
            <a:ext cx="523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Android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2.6%</a:t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6381750" y="4043362"/>
            <a:ext cx="5081700" cy="11430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6381750" y="4624387"/>
            <a:ext cx="136200" cy="114300"/>
          </a:xfrm>
          <a:prstGeom prst="roundRect">
            <a:avLst>
              <a:gd fmla="val 50000" name="adj"/>
            </a:avLst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6381750" y="3195637"/>
            <a:ext cx="550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Профили ошибок по ОС:</a:t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571500" y="1238250"/>
            <a:ext cx="5189100" cy="285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571500" y="1868750"/>
            <a:ext cx="5238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0F766E"/>
                </a:solidFill>
                <a:latin typeface="Lato"/>
                <a:ea typeface="Lato"/>
                <a:cs typeface="Lato"/>
                <a:sym typeface="Lato"/>
              </a:rPr>
              <a:t>12%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619300" y="3267450"/>
            <a:ext cx="523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Сессий без времени окончания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19300" y="3856150"/>
            <a:ext cx="5238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Суммарно 3 262 записи имеют критическую техническую ошибку в таблице </a:t>
            </a: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game_sessions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621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571500" y="571500"/>
            <a:ext cx="6654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Маркетинговая активность</a:t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571500" y="1238250"/>
            <a:ext cx="6337696" cy="28575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571500" y="315753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Акция проводилась первые три недели марта 2023 года. Стимул: больше кристаллов за частые заходы в игру.</a:t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571500" y="4014787"/>
            <a:ext cx="5238750" cy="9525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762000" y="4205287"/>
            <a:ext cx="485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Результат: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>
                <a:solidFill>
                  <a:schemeClr val="dk1"/>
                </a:solidFill>
              </a:rPr>
              <a:t>Количество зарегистрированных пользователей с марта по апрель было самым высоким - 1544 игрока.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571500" y="4014787"/>
            <a:ext cx="38100" cy="9525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28937" y="2176675"/>
            <a:ext cx="5690226" cy="342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 txBox="1"/>
          <p:nvPr/>
        </p:nvSpPr>
        <p:spPr>
          <a:xfrm>
            <a:off x="571500" y="571500"/>
            <a:ext cx="7405144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МЕТРИКИ УДЕРЖАНИЯ И ЛОЯЛЬНОСТИ</a:t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571500" y="1238250"/>
            <a:ext cx="7052518" cy="28575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5850" y="1916525"/>
            <a:ext cx="5511600" cy="39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1024575" y="2446675"/>
            <a:ext cx="45072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Фактор липучести на пике в августе-сентябре 2022 за счет старых игроков.</a:t>
            </a:r>
            <a:endParaRPr sz="15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Снижение липучести в 2023 году вызвано притоком новых игроков без прямых приглашений.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Топ-25 игроков провели в игре от 3.5 до 6.7 суток чистого времени за 2022 год.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2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descr="image.png" id="164" name="Google Shape;164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" name="Google Shape;165;p20"/>
            <p:cNvSpPr txBox="1"/>
            <p:nvPr/>
          </p:nvSpPr>
          <p:spPr>
            <a:xfrm>
              <a:off x="571500" y="571500"/>
              <a:ext cx="69975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АНАЛИЗ ВОВЛЕЧЕННОСТИ ИГРОКОВ</a:t>
              </a:r>
              <a:endParaRPr/>
            </a:p>
          </p:txBody>
        </p:sp>
        <p:sp>
          <p:nvSpPr>
            <p:cNvPr id="166" name="Google Shape;166;p20"/>
            <p:cNvSpPr/>
            <p:nvPr/>
          </p:nvSpPr>
          <p:spPr>
            <a:xfrm>
              <a:off x="571500" y="1238250"/>
              <a:ext cx="6664500" cy="285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20"/>
            <p:cNvSpPr txBox="1"/>
            <p:nvPr/>
          </p:nvSpPr>
          <p:spPr>
            <a:xfrm>
              <a:off x="571500" y="2020490"/>
              <a:ext cx="523890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50" u="none" cap="none" strike="noStrike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Для подготовки новой стимулирующей акции мы проанализировали показатели </a:t>
              </a:r>
              <a:r>
                <a:rPr b="1" i="0" lang="en-US" sz="1650" u="none" cap="none" strike="noStrike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25 самых активных пользователей</a:t>
              </a:r>
              <a:r>
                <a:rPr b="0" i="0" lang="en-US" sz="1650" u="none" cap="none" strike="noStrike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за 2022 год.</a:t>
              </a:r>
              <a:endParaRPr/>
            </a:p>
          </p:txBody>
        </p:sp>
        <p:sp>
          <p:nvSpPr>
            <p:cNvPr id="168" name="Google Shape;168;p20"/>
            <p:cNvSpPr txBox="1"/>
            <p:nvPr/>
          </p:nvSpPr>
          <p:spPr>
            <a:xfrm>
              <a:off x="571500" y="3516713"/>
              <a:ext cx="52389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50" u="none" cap="none" strike="noStrike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Цель акции — вознаграждение наиболее лояльной аудитории для поддержания высокого LTV.</a:t>
              </a:r>
              <a:endParaRPr/>
            </a:p>
          </p:txBody>
        </p:sp>
      </p:grpSp>
      <p:pic>
        <p:nvPicPr>
          <p:cNvPr descr="image.png" id="169" name="Google Shape;16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6075" y="2927198"/>
            <a:ext cx="5238750" cy="1426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6935600" y="3221110"/>
            <a:ext cx="4619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ПРОВЕДЕНО ВРЕМЕНИ В ИГРЕ: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6935600" y="3758851"/>
            <a:ext cx="3305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766E"/>
                </a:solidFill>
                <a:latin typeface="Lato"/>
                <a:ea typeface="Lato"/>
                <a:cs typeface="Lato"/>
                <a:sym typeface="Lato"/>
              </a:rPr>
              <a:t>от 3д 11ч 34м до 6д 18ч 33м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85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1"/>
          <p:cNvSpPr txBox="1"/>
          <p:nvPr/>
        </p:nvSpPr>
        <p:spPr>
          <a:xfrm>
            <a:off x="571500" y="571500"/>
            <a:ext cx="547771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ФИНАНСОВЫЕ ПОКАЗАТЕЛИ</a:t>
            </a:r>
            <a:endParaRPr/>
          </a:p>
        </p:txBody>
      </p:sp>
      <p:sp>
        <p:nvSpPr>
          <p:cNvPr id="178" name="Google Shape;178;p21"/>
          <p:cNvSpPr/>
          <p:nvPr/>
        </p:nvSpPr>
        <p:spPr>
          <a:xfrm>
            <a:off x="571500" y="1238250"/>
            <a:ext cx="5216872" cy="28575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571500" y="1838325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Наблюдается существенный рост выручки по категории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Currency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в марте 2023 года. Это прямой эффект акции.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571500" y="5838825"/>
            <a:ext cx="11049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Январское повышение цен на кристаллы не снизило выручку, но мартовская акция кратно увеличила объем покупок валюты новыми игроками.</a:t>
            </a:r>
            <a:endParaRPr/>
          </a:p>
        </p:txBody>
      </p:sp>
      <p:pic>
        <p:nvPicPr>
          <p:cNvPr id="181" name="Google Shape;18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1900" y="2124075"/>
            <a:ext cx="5961899" cy="3583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8375" y="1416275"/>
            <a:ext cx="6331201" cy="380545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2"/>
          <p:cNvSpPr txBox="1"/>
          <p:nvPr/>
        </p:nvSpPr>
        <p:spPr>
          <a:xfrm>
            <a:off x="655125" y="677400"/>
            <a:ext cx="11049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Январское повышение цен на кристаллы не снизило выручку, но мартовская акция кратно увеличила объем покупок валюты новыми игроками.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54900"/>
            <a:ext cx="5223600" cy="300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254900"/>
            <a:ext cx="5334000" cy="300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3"/>
          <p:cNvSpPr txBox="1"/>
          <p:nvPr/>
        </p:nvSpPr>
        <p:spPr>
          <a:xfrm>
            <a:off x="571500" y="571500"/>
            <a:ext cx="8727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СТРАТЕГИЯ МАРКЕТИНГА</a:t>
            </a:r>
            <a:endParaRPr/>
          </a:p>
        </p:txBody>
      </p:sp>
      <p:sp>
        <p:nvSpPr>
          <p:cNvPr id="196" name="Google Shape;196;p23"/>
          <p:cNvSpPr/>
          <p:nvPr/>
        </p:nvSpPr>
        <p:spPr>
          <a:xfrm>
            <a:off x="571500" y="1200150"/>
            <a:ext cx="8311800" cy="285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914400" y="2532925"/>
            <a:ext cx="488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766E"/>
                </a:solidFill>
                <a:latin typeface="Lato"/>
                <a:ea typeface="Lato"/>
                <a:cs typeface="Lato"/>
                <a:sym typeface="Lato"/>
              </a:rPr>
              <a:t>Когортный анализ выручки</a:t>
            </a:r>
            <a:endParaRPr/>
          </a:p>
        </p:txBody>
      </p:sp>
      <p:sp>
        <p:nvSpPr>
          <p:cNvPr id="198" name="Google Shape;198;p23"/>
          <p:cNvSpPr txBox="1"/>
          <p:nvPr/>
        </p:nvSpPr>
        <p:spPr>
          <a:xfrm>
            <a:off x="914400" y="3090372"/>
            <a:ext cx="46482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Анализ среднемесячной выручки на одного человека показал, что траты «старых» пользователей стабильны.</a:t>
            </a:r>
            <a:endParaRPr b="0" i="0" sz="1425" u="none" cap="none" strike="noStrike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42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Новые пользователи совершают покупки чаще, что требует изменения стратегии воздействия.</a:t>
            </a:r>
            <a:endParaRPr sz="1425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9" name="Google Shape;199;p23"/>
          <p:cNvSpPr txBox="1"/>
          <p:nvPr/>
        </p:nvSpPr>
        <p:spPr>
          <a:xfrm>
            <a:off x="6629400" y="2394475"/>
            <a:ext cx="488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766E"/>
                </a:solidFill>
                <a:latin typeface="Lato"/>
                <a:ea typeface="Lato"/>
                <a:cs typeface="Lato"/>
                <a:sym typeface="Lato"/>
              </a:rPr>
              <a:t>Альтернативная стратегия (ноябрь–декабрь 2022)</a:t>
            </a:r>
            <a:endParaRPr/>
          </a:p>
        </p:txBody>
      </p:sp>
      <p:sp>
        <p:nvSpPr>
          <p:cNvPr id="200" name="Google Shape;200;p23"/>
          <p:cNvSpPr txBox="1"/>
          <p:nvPr/>
        </p:nvSpPr>
        <p:spPr>
          <a:xfrm>
            <a:off x="6629400" y="3003125"/>
            <a:ext cx="46482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Привлечение «лояльных» игроков через более дорогую и таргетированную рекламу.</a:t>
            </a:r>
            <a:endParaRPr/>
          </a:p>
        </p:txBody>
      </p:sp>
      <p:sp>
        <p:nvSpPr>
          <p:cNvPr id="201" name="Google Shape;201;p23"/>
          <p:cNvSpPr txBox="1"/>
          <p:nvPr/>
        </p:nvSpPr>
        <p:spPr>
          <a:xfrm>
            <a:off x="6984031" y="3946350"/>
            <a:ext cx="100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2ч 57м</a:t>
            </a:r>
            <a:r>
              <a:rPr b="0" i="0" lang="en-US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Было</a:t>
            </a:r>
            <a:endParaRPr sz="1600"/>
          </a:p>
        </p:txBody>
      </p:sp>
      <p:sp>
        <p:nvSpPr>
          <p:cNvPr id="202" name="Google Shape;202;p23"/>
          <p:cNvSpPr txBox="1"/>
          <p:nvPr/>
        </p:nvSpPr>
        <p:spPr>
          <a:xfrm>
            <a:off x="9920387" y="3915750"/>
            <a:ext cx="100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766E"/>
                </a:solidFill>
                <a:latin typeface="Lato"/>
                <a:ea typeface="Lato"/>
                <a:cs typeface="Lato"/>
                <a:sym typeface="Lato"/>
              </a:rPr>
              <a:t>3ч 37м</a:t>
            </a:r>
            <a:r>
              <a:rPr b="0" i="0" lang="en-US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Стало</a:t>
            </a:r>
            <a:endParaRPr/>
          </a:p>
        </p:txBody>
      </p:sp>
      <p:sp>
        <p:nvSpPr>
          <p:cNvPr id="203" name="Google Shape;203;p23"/>
          <p:cNvSpPr/>
          <p:nvPr/>
        </p:nvSpPr>
        <p:spPr>
          <a:xfrm>
            <a:off x="8351475" y="3978600"/>
            <a:ext cx="1229400" cy="39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1F5F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2938" y="2895600"/>
            <a:ext cx="523875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4"/>
          <p:cNvSpPr txBox="1"/>
          <p:nvPr/>
        </p:nvSpPr>
        <p:spPr>
          <a:xfrm>
            <a:off x="571500" y="571500"/>
            <a:ext cx="536332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ВИРАЛЬНОСТЬ (K-FACTOR)</a:t>
            </a:r>
            <a:endParaRPr/>
          </a:p>
        </p:txBody>
      </p:sp>
      <p:sp>
        <p:nvSpPr>
          <p:cNvPr id="211" name="Google Shape;211;p24"/>
          <p:cNvSpPr/>
          <p:nvPr/>
        </p:nvSpPr>
        <p:spPr>
          <a:xfrm>
            <a:off x="571500" y="1238250"/>
            <a:ext cx="5107930" cy="28575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4"/>
          <p:cNvSpPr txBox="1"/>
          <p:nvPr/>
        </p:nvSpPr>
        <p:spPr>
          <a:xfrm>
            <a:off x="506088" y="2817475"/>
            <a:ext cx="523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766E"/>
                </a:solidFill>
                <a:latin typeface="Lato"/>
                <a:ea typeface="Lato"/>
                <a:cs typeface="Lato"/>
                <a:sym typeface="Lato"/>
              </a:rPr>
              <a:t>k = 0.92</a:t>
            </a:r>
            <a:endParaRPr/>
          </a:p>
        </p:txBody>
      </p:sp>
      <p:sp>
        <p:nvSpPr>
          <p:cNvPr id="213" name="Google Shape;213;p24"/>
          <p:cNvSpPr txBox="1"/>
          <p:nvPr/>
        </p:nvSpPr>
        <p:spPr>
          <a:xfrm>
            <a:off x="506088" y="3491150"/>
            <a:ext cx="5238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Показатель виральности проекта крайне высок. Каждые 100 пользователей органически приводят еще 92 игрока.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"/>
          <p:cNvSpPr txBox="1"/>
          <p:nvPr/>
        </p:nvSpPr>
        <p:spPr>
          <a:xfrm>
            <a:off x="571500" y="571500"/>
            <a:ext cx="8647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ОПРЕДЕЛЕНИЕ ЛОЯЛЬНЫХ ПОЛЬЗОВАТЕЛЕЙ</a:t>
            </a:r>
            <a:endParaRPr/>
          </a:p>
        </p:txBody>
      </p:sp>
      <p:sp>
        <p:nvSpPr>
          <p:cNvPr id="219" name="Google Shape;219;p25"/>
          <p:cNvSpPr/>
          <p:nvPr/>
        </p:nvSpPr>
        <p:spPr>
          <a:xfrm>
            <a:off x="571500" y="1238250"/>
            <a:ext cx="8235600" cy="285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3100" y="2215950"/>
            <a:ext cx="5587399" cy="3358384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5"/>
          <p:cNvSpPr txBox="1"/>
          <p:nvPr/>
        </p:nvSpPr>
        <p:spPr>
          <a:xfrm>
            <a:off x="463000" y="2609100"/>
            <a:ext cx="4901400" cy="20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40C28"/>
                </a:solidFill>
              </a:rPr>
              <a:t>Рассчитаем несколько типов лояльных клиентов. </a:t>
            </a:r>
            <a:endParaRPr sz="1500">
              <a:solidFill>
                <a:srgbClr val="040C2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40C28"/>
                </a:solidFill>
              </a:rPr>
              <a:t>Например пусть </a:t>
            </a:r>
            <a:r>
              <a:rPr lang="en-US" sz="1500">
                <a:solidFill>
                  <a:schemeClr val="dk1"/>
                </a:solidFill>
              </a:rPr>
              <a:t>  “лояльным</a:t>
            </a:r>
            <a:r>
              <a:rPr i="1" lang="en-US" sz="1500">
                <a:solidFill>
                  <a:schemeClr val="dk1"/>
                </a:solidFill>
              </a:rPr>
              <a:t> </a:t>
            </a:r>
            <a:r>
              <a:rPr lang="en-US" sz="1500">
                <a:solidFill>
                  <a:schemeClr val="dk1"/>
                </a:solidFill>
              </a:rPr>
              <a:t>” считается тот пользователь, который пригласил как минимум троих друзей,  из которых как минимум один в результате зарегистрировался в нашей игре.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Динамика показана на графике.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 txBox="1"/>
          <p:nvPr/>
        </p:nvSpPr>
        <p:spPr>
          <a:xfrm>
            <a:off x="692975" y="442075"/>
            <a:ext cx="6965400" cy="19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8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Допустим, возьмем  “лояльным ” пользователя того, который оплатил суммарно больше 1000 рублей за всё время.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88888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Назовем данный критерий </a:t>
            </a:r>
            <a:r>
              <a:rPr i="1" lang="en-U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crit_1000</a:t>
            </a:r>
            <a:r>
              <a:rPr lang="en-U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88888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Тогда динамика будет выглядеть так: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7" name="Google Shape;22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2825" y="2496700"/>
            <a:ext cx="5973251" cy="388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7"/>
          <p:cNvSpPr txBox="1"/>
          <p:nvPr/>
        </p:nvSpPr>
        <p:spPr>
          <a:xfrm>
            <a:off x="140975" y="515300"/>
            <a:ext cx="5842500" cy="15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Динамика LMAU для критерия лояльности crit_invite и  crit_1000. 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То есть чтобы считаться “лояльным”, клиенту необходимо удовлетворять обоим условиям, представленным выше.</a:t>
            </a:r>
            <a:endParaRPr sz="15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88888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3" name="Google Shape;23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25" y="2417813"/>
            <a:ext cx="5880749" cy="362227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7"/>
          <p:cNvSpPr txBox="1"/>
          <p:nvPr/>
        </p:nvSpPr>
        <p:spPr>
          <a:xfrm>
            <a:off x="6392100" y="403700"/>
            <a:ext cx="49971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Также, “лояльным”  может считаться пользователь, который входит в топ-100 пользователей по средним выплатам за один месяц своей жизни. 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Такие средние выплаты составляют от  </a:t>
            </a:r>
            <a:r>
              <a:rPr lang="en-US" sz="1500">
                <a:solidFill>
                  <a:srgbClr val="4C5773"/>
                </a:solidFill>
                <a:latin typeface="Lato"/>
                <a:ea typeface="Lato"/>
                <a:cs typeface="Lato"/>
                <a:sym typeface="Lato"/>
              </a:rPr>
              <a:t>28.99 </a:t>
            </a:r>
            <a:r>
              <a:rPr lang="en-U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до </a:t>
            </a:r>
            <a:r>
              <a:rPr lang="en-US" sz="1500">
                <a:solidFill>
                  <a:srgbClr val="4C5773"/>
                </a:solidFill>
                <a:latin typeface="Lato"/>
                <a:ea typeface="Lato"/>
                <a:cs typeface="Lato"/>
                <a:sym typeface="Lato"/>
              </a:rPr>
              <a:t>175 рублей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5" name="Google Shape;23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2100" y="2449700"/>
            <a:ext cx="5453475" cy="355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8"/>
          <p:cNvSpPr txBox="1"/>
          <p:nvPr/>
        </p:nvSpPr>
        <p:spPr>
          <a:xfrm>
            <a:off x="571500" y="571500"/>
            <a:ext cx="545396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ВЫВОДЫ И РЕКОМЕНДАЦИИ</a:t>
            </a:r>
            <a:endParaRPr/>
          </a:p>
        </p:txBody>
      </p:sp>
      <p:sp>
        <p:nvSpPr>
          <p:cNvPr id="242" name="Google Shape;242;p28"/>
          <p:cNvSpPr/>
          <p:nvPr/>
        </p:nvSpPr>
        <p:spPr>
          <a:xfrm>
            <a:off x="571500" y="1238250"/>
            <a:ext cx="5194250" cy="28575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8"/>
          <p:cNvSpPr txBox="1"/>
          <p:nvPr/>
        </p:nvSpPr>
        <p:spPr>
          <a:xfrm>
            <a:off x="1047750" y="2871787"/>
            <a:ext cx="10572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Эффективность акций: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Мартовская кампания доказала, что стимулирование частоты заходов (engagement) напрямую ведет к росту монетизации валюты.</a:t>
            </a:r>
            <a:endParaRPr/>
          </a:p>
        </p:txBody>
      </p:sp>
      <p:sp>
        <p:nvSpPr>
          <p:cNvPr id="244" name="Google Shape;244;p28"/>
          <p:cNvSpPr txBox="1"/>
          <p:nvPr/>
        </p:nvSpPr>
        <p:spPr>
          <a:xfrm>
            <a:off x="1047750" y="3681412"/>
            <a:ext cx="1054149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Технический долг: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Необходимо срочное исправление бага с незавершением сессий на iOS (97% всех ошибок системы).</a:t>
            </a:r>
            <a:endParaRPr/>
          </a:p>
        </p:txBody>
      </p:sp>
      <p:sp>
        <p:nvSpPr>
          <p:cNvPr id="245" name="Google Shape;245;p28"/>
          <p:cNvSpPr txBox="1"/>
          <p:nvPr/>
        </p:nvSpPr>
        <p:spPr>
          <a:xfrm>
            <a:off x="1047750" y="4252912"/>
            <a:ext cx="10572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Потенциал роста: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При k-факторе 0.92 проект имеет отличные перспективы для масштабирования через таргетированную рекламу и поддержку виральности.</a:t>
            </a:r>
            <a:endParaRPr/>
          </a:p>
        </p:txBody>
      </p:sp>
      <p:pic>
        <p:nvPicPr>
          <p:cNvPr descr="image.png" id="246" name="Google Shape;24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14650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24275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95775"/>
            <a:ext cx="2857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