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8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67"/>
    <p:restoredTop sz="86364"/>
  </p:normalViewPr>
  <p:slideViewPr>
    <p:cSldViewPr snapToGrid="0">
      <p:cViewPr varScale="1">
        <p:scale>
          <a:sx n="72" d="100"/>
          <a:sy n="72" d="100"/>
        </p:scale>
        <p:origin x="224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89FE3-3128-F84D-A5C1-DAE5D7CB61A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824C0-E149-3641-8356-5F1446EF1C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95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связи с открытием новой ТТ "ул. Чертановская, 20к2" 3 сентября  кол-во транзакций на ТТ "Симферопольский б-р, 22" снизилось . Новая ТТ "Чертановская" "перетягивает" кол-во транзакций с ТТ "Симферопольский б-р</a:t>
            </a:r>
            <a:r>
              <a:rPr lang="en-US" dirty="0"/>
              <a:t>”</a:t>
            </a:r>
            <a:r>
              <a:rPr lang="ru-RU" dirty="0"/>
              <a:t>, отбирая большую часть клиентов на рынке.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824C0-E149-3641-8356-5F1446EF1C8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69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F6FBC-6F54-EA3D-F3B4-022690362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E71836-056C-324F-316F-7D3176E68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2F8B5B-669D-1CFF-E86D-2E012F76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7698F9-3FD0-D728-580C-61E5C4DD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DB3623-E2BE-D260-AF72-5B5616A9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67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D8D6F-07FF-37B4-1AB5-6A029AF8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7025CF-1839-09E0-F660-72001BE68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2B79D-AF45-1620-D3A9-7022CC44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48B45E-18DE-71AC-3148-8D5626FA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240B7C-07AB-3256-A907-C1245204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3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0EE45-7568-781D-AAFC-DE12FCB0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FFE642-A341-4357-0B0F-EBE4679D0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7F930A-6668-DA39-21E5-39EDAA63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848E71-08A8-9DEE-4719-D64E416E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9A67D-E2F5-D752-4174-38455C72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31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8DB06-B129-8B82-585E-3F8FD088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86601F-B4FD-DCD1-E54B-EFA94F9FC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38D875-740B-5E62-30B6-911F6E7E6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171F2F-0390-B94B-EE7A-F500FE2E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F8FEED-07E9-0E7B-DC93-A8FEA59D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73D3F5-7508-6D38-9C98-B713EB31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10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66EC0-EC04-C31D-5F6F-585143FF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6A491B-2E31-B0A4-6279-7D32BD3A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234DC0-4B32-1404-5A6F-E893921E3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BF3C6E-4072-8A6E-EB3A-F409654A2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384CEF-F011-6293-BBB3-30CCD17FA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7CEF9FB-D9B4-C3BD-8472-FB06EEB1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6C02A9-7C16-48C4-46E7-C854BA26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DB2E4F-FB4D-84CE-1092-88785CCC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49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8C8E-82C5-B021-023E-C2A650BC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415D28-30EE-D723-9DD0-D4B8D807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60E078-4375-CA61-6C26-6E9C4CDF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0F2413-58A3-34EA-E7F0-DC283480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46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EF7752-92C2-CECA-DD35-FA67C495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753AB7-EFE5-4B38-EA3B-3FBACB32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2BEFDF-2675-E84F-D9BE-3FF373D3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47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E07C5-ABB8-643C-FEC9-C658AF44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5BBBC8-7E5D-CCB6-11E6-BE326AED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6009E1-6252-63E0-27A0-4E8CD326B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A34836-4F25-2475-2A50-51E1C0E9F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C65B9D-1AE4-753F-94D3-4FE1F78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90303C-2A6F-8E36-4C97-B35F1064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86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C956F-BB31-4C29-5E38-3A76DFE1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835538-7F20-E318-4144-F1F14CE00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1F953F-99AF-182C-7B61-56DE378CC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CF9F0F-44BF-BE63-FBBD-200510B2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7496E8-77FA-975A-0FAC-959AB41D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D4971A-CABA-D646-ED50-A9EB30B6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85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E924E-E052-E2F8-FD0F-0F8A1AB9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15F917-471F-93AD-EE72-3F761AFB3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6E3A62-7C6D-62F7-447F-677ACD18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316E43-E488-9B02-E2A2-81B176DA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40713-B942-A7F7-8DF6-4AD10FC5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365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4F50079-5572-2085-C9E7-497D09C97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B63D6F-1B63-FB33-1E38-9062DAEAF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D7FD46-9D51-2843-F50D-65014EEC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9061F4-1CE7-7FCD-AB96-9DDBA0D7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B3C707-ED03-3547-F7C0-0309FA0A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81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26BC6-78AF-12BD-F6F5-DDAFD0CC8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01AC8A-5B99-13BE-6767-FA87AF638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76AB34-4D6B-3968-BC33-59155FADD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5AE14-775F-D049-8781-B060BA2D7C24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1A8033-894A-3D80-A28B-90E0EA11A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FDBCFC-95E1-0150-1EE7-41B3D86F6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F985A-924A-D344-A233-87E9350EF6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84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8.xml"/><Relationship Id="rId7" Type="http://schemas.openxmlformats.org/officeDocument/2006/relationships/slide" Target="slide1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0B2BD-FF51-7D37-EA84-049A1629C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5430" y="1762442"/>
            <a:ext cx="8934450" cy="2479675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торговых точек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01.09-07.09.2022 г.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B426F3-73A7-220F-F1D8-EE8627314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3580" y="6025198"/>
            <a:ext cx="3813810" cy="66135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dirty="0"/>
              <a:t>Выполнила</a:t>
            </a:r>
            <a:r>
              <a:rPr lang="en-US" dirty="0"/>
              <a:t>:</a:t>
            </a:r>
          </a:p>
          <a:p>
            <a:pPr algn="l"/>
            <a:r>
              <a:rPr lang="ru-RU" dirty="0"/>
              <a:t>Семенова С.А.</a:t>
            </a:r>
          </a:p>
        </p:txBody>
      </p:sp>
    </p:spTree>
    <p:extLst>
      <p:ext uri="{BB962C8B-B14F-4D97-AF65-F5344CB8AC3E}">
        <p14:creationId xmlns:p14="http://schemas.microsoft.com/office/powerpoint/2010/main" val="106142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579FE-9B55-9B95-61F4-AFA6A00A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F4245A-97B9-85E1-A866-F2609AE36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ru-RU" dirty="0">
                <a:hlinkClick r:id="rId2" action="ppaction://hlinksldjump"/>
              </a:rPr>
              <a:t>Анализ торговых точек </a:t>
            </a:r>
            <a:r>
              <a:rPr lang="en-US" dirty="0">
                <a:hlinkClick r:id="rId2" action="ppaction://hlinksldjump"/>
              </a:rPr>
              <a:t>01</a:t>
            </a:r>
            <a:r>
              <a:rPr lang="ru-RU" dirty="0">
                <a:hlinkClick r:id="rId2" action="ppaction://hlinksldjump"/>
              </a:rPr>
              <a:t>-04.09</a:t>
            </a:r>
            <a:endParaRPr lang="ru-RU" dirty="0"/>
          </a:p>
          <a:p>
            <a:pPr marL="342900" indent="-342900"/>
            <a:r>
              <a:rPr lang="ru-RU" dirty="0">
                <a:hlinkClick r:id="rId3" action="ppaction://hlinksldjump"/>
              </a:rPr>
              <a:t>Анализ касс самообслуживания </a:t>
            </a:r>
            <a:r>
              <a:rPr lang="en-US" dirty="0">
                <a:hlinkClick r:id="rId3" action="ppaction://hlinksldjump"/>
              </a:rPr>
              <a:t>01</a:t>
            </a:r>
            <a:r>
              <a:rPr lang="ru-RU" dirty="0">
                <a:hlinkClick r:id="rId3" action="ppaction://hlinksldjump"/>
              </a:rPr>
              <a:t>-04.09</a:t>
            </a:r>
            <a:r>
              <a:rPr lang="ru-RU" dirty="0"/>
              <a:t>   </a:t>
            </a:r>
          </a:p>
          <a:p>
            <a:pPr marL="342900" indent="-342900"/>
            <a:r>
              <a:rPr lang="ru-RU" dirty="0">
                <a:hlinkClick r:id="rId4" action="ppaction://hlinksldjump"/>
              </a:rPr>
              <a:t>Анализ нагрузки на сервера и решение </a:t>
            </a:r>
            <a:r>
              <a:rPr lang="en-US" dirty="0">
                <a:hlinkClick r:id="rId4" action="ppaction://hlinksldjump"/>
              </a:rPr>
              <a:t>01</a:t>
            </a:r>
            <a:r>
              <a:rPr lang="ru-RU" dirty="0">
                <a:hlinkClick r:id="rId4" action="ppaction://hlinksldjump"/>
              </a:rPr>
              <a:t>-04.09 </a:t>
            </a:r>
            <a:endParaRPr lang="ru-RU" dirty="0"/>
          </a:p>
          <a:p>
            <a:pPr marL="342900" indent="-342900"/>
            <a:r>
              <a:rPr lang="ru-RU" dirty="0">
                <a:hlinkClick r:id="rId5" action="ppaction://hlinksldjump"/>
              </a:rPr>
              <a:t>Анализ 1-го сентября по увеличению длительности оплаты</a:t>
            </a:r>
            <a:endParaRPr lang="ru-RU" dirty="0"/>
          </a:p>
          <a:p>
            <a:pPr marL="342900" indent="-342900"/>
            <a:r>
              <a:rPr lang="ru-RU" dirty="0">
                <a:hlinkClick r:id="rId6" action="ppaction://hlinksldjump"/>
              </a:rPr>
              <a:t>Анализ торговых точек </a:t>
            </a:r>
            <a:r>
              <a:rPr lang="en-US" dirty="0">
                <a:hlinkClick r:id="rId6" action="ppaction://hlinksldjump"/>
              </a:rPr>
              <a:t>0</a:t>
            </a:r>
            <a:r>
              <a:rPr lang="ru-RU" dirty="0">
                <a:hlinkClick r:id="rId6" action="ppaction://hlinksldjump"/>
              </a:rPr>
              <a:t>5-07.09</a:t>
            </a:r>
            <a:endParaRPr lang="ru-RU" dirty="0"/>
          </a:p>
          <a:p>
            <a:pPr marL="342900" indent="-342900"/>
            <a:r>
              <a:rPr lang="ru-RU" dirty="0">
                <a:hlinkClick r:id="rId7" action="ppaction://hlinksldjump"/>
              </a:rPr>
              <a:t>Анализ программы лояльности</a:t>
            </a:r>
            <a:endParaRPr lang="ru-RU" dirty="0"/>
          </a:p>
          <a:p>
            <a:pPr marL="342900" indent="-342900"/>
            <a:r>
              <a:rPr lang="en-US" dirty="0">
                <a:hlinkClick r:id="rId8" action="ppaction://hlinksldjump"/>
              </a:rPr>
              <a:t>Dashboard</a:t>
            </a:r>
            <a:r>
              <a:rPr lang="ru-RU" dirty="0">
                <a:hlinkClick r:id="rId8" action="ppaction://hlinksldjump"/>
              </a:rPr>
              <a:t>. Оптимизация за 7 дней сентября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40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4F96C-32C8-97F3-B7B3-C27D1D69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01</a:t>
            </a:r>
            <a:r>
              <a:rPr lang="ru-RU" dirty="0"/>
              <a:t>-04.09</a:t>
            </a:r>
            <a:br>
              <a:rPr lang="ru-RU" dirty="0"/>
            </a:br>
            <a:endParaRPr lang="ru-RU" dirty="0"/>
          </a:p>
        </p:txBody>
      </p:sp>
      <p:pic>
        <p:nvPicPr>
          <p:cNvPr id="9" name="Объект 8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EBD9EB-44B8-D988-D800-ACFD24A73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700" y="1690687"/>
            <a:ext cx="7355518" cy="423905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B0898E-3176-3A31-DE5B-BA116779B9C5}"/>
              </a:ext>
            </a:extLst>
          </p:cNvPr>
          <p:cNvSpPr txBox="1"/>
          <p:nvPr/>
        </p:nvSpPr>
        <p:spPr>
          <a:xfrm>
            <a:off x="7876218" y="2617689"/>
            <a:ext cx="39832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Кол-во транзакций ТТ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Симферопольский б-р, 22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 3 и 4 сентября  снизилось.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Кол-во транзакций ТТ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ул. Чертановская, 20к2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3 и 4 сентября увеличилось.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005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1D049-1EFF-4D52-C5EF-EF0C4026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01</a:t>
            </a:r>
            <a:r>
              <a:rPr lang="ru-RU" dirty="0"/>
              <a:t>-04.09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67C5056-DA50-9503-C6BD-85B286F3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69" y="1690688"/>
            <a:ext cx="6898559" cy="40187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964636-2E71-82DE-F64D-CF59ED1544DB}"/>
              </a:ext>
            </a:extLst>
          </p:cNvPr>
          <p:cNvSpPr txBox="1"/>
          <p:nvPr/>
        </p:nvSpPr>
        <p:spPr>
          <a:xfrm>
            <a:off x="7515922" y="2961392"/>
            <a:ext cx="4081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 данному графику также можно сделать вывод, что ТТ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ул. Чертановская, 20к2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забирает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кол-во транзакций у ТТ </a:t>
            </a:r>
            <a:r>
              <a:rPr lang="ru-RU" dirty="0"/>
              <a:t>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Симферопольский б-р, 22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31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B9550-47CB-78D5-B2B0-81881958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01</a:t>
            </a:r>
            <a:r>
              <a:rPr lang="ru-RU" dirty="0"/>
              <a:t>-04.09</a:t>
            </a:r>
          </a:p>
        </p:txBody>
      </p:sp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0253F5-EC1C-8046-0F8F-6B3311918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3561" y="1854199"/>
            <a:ext cx="6819970" cy="39890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BA2A2-D280-7467-B713-CCC0CE8EBB17}"/>
              </a:ext>
            </a:extLst>
          </p:cNvPr>
          <p:cNvSpPr txBox="1"/>
          <p:nvPr/>
        </p:nvSpPr>
        <p:spPr>
          <a:xfrm>
            <a:off x="7123531" y="2828835"/>
            <a:ext cx="4497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графике доля транзакций по ТТ  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ул. Чертановская, 20к2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увеличилась за счет уменьшение доли ТТ </a:t>
            </a:r>
            <a:r>
              <a:rPr lang="en-US" dirty="0">
                <a:cs typeface="Times New Roman" panose="02020603050405020304" pitchFamily="18" charset="0"/>
              </a:rPr>
              <a:t>“</a:t>
            </a:r>
            <a:r>
              <a:rPr lang="ru-RU" dirty="0">
                <a:cs typeface="Times New Roman" panose="02020603050405020304" pitchFamily="18" charset="0"/>
              </a:rPr>
              <a:t>Симферопольский б-р, 22</a:t>
            </a:r>
            <a:r>
              <a:rPr lang="en-US" dirty="0">
                <a:cs typeface="Times New Roman" panose="02020603050405020304" pitchFamily="18" charset="0"/>
              </a:rPr>
              <a:t>”</a:t>
            </a:r>
            <a:r>
              <a:rPr lang="ru-RU" dirty="0">
                <a:cs typeface="Times New Roman" panose="02020603050405020304" pitchFamily="18" charset="0"/>
              </a:rPr>
              <a:t> 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986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3CF24-6461-32EF-3245-EA8562C1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396EC-97D7-5F26-0317-291C66D7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0874" cy="14605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Анализ нагрузки на сервера и решение </a:t>
            </a:r>
            <a:r>
              <a:rPr lang="en-US" dirty="0"/>
              <a:t>01</a:t>
            </a:r>
            <a:r>
              <a:rPr lang="ru-RU" dirty="0"/>
              <a:t>-04.09 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4" descr="Изображение выглядит как линия, текст, Графи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41AD99-09F5-D1D7-CB48-5922D673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768" y="1591516"/>
            <a:ext cx="5024187" cy="2915269"/>
          </a:xfrm>
          <a:prstGeom prst="rect">
            <a:avLst/>
          </a:prstGeom>
        </p:spPr>
      </p:pic>
      <p:pic>
        <p:nvPicPr>
          <p:cNvPr id="10" name="Объект 9" descr="Изображение выглядит как чек, текст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3B8760-466B-8D6E-DF69-7503D518A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045" y="1911911"/>
            <a:ext cx="4691439" cy="262112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ABBDA0-5CB9-B87A-FC67-4A79A3F0446A}"/>
              </a:ext>
            </a:extLst>
          </p:cNvPr>
          <p:cNvSpPr txBox="1"/>
          <p:nvPr/>
        </p:nvSpPr>
        <p:spPr>
          <a:xfrm>
            <a:off x="741405" y="4856205"/>
            <a:ext cx="45110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Кол-во транзакций на 3 сервер 02.09-04.09 –увеличивается (Ракетный б-р, ул. Чертановская)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Кол-во транзакций 1 сервер 02.09-04.09 –уменьшается (ул. Щорса, Симферопольский б-р)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3421C6-6063-71BC-ABF5-B4C538B2404C}"/>
              </a:ext>
            </a:extLst>
          </p:cNvPr>
          <p:cNvSpPr txBox="1"/>
          <p:nvPr/>
        </p:nvSpPr>
        <p:spPr>
          <a:xfrm>
            <a:off x="6858000" y="4533039"/>
            <a:ext cx="47729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Нагрузка  на 3 сервер увеличена	 (Ракетный б-р, ул. Чертановская)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Нагрузка  на 1 сервер уменьшена (ул. Щорса, Симферопольский б-р)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Переводим на первый сервер ТТ на Ракетном бульваре, а третий сервер оставляем для новой ТТ на Чертановской.</a:t>
            </a:r>
          </a:p>
          <a:p>
            <a:endParaRPr lang="ru-RU" dirty="0"/>
          </a:p>
          <a:p>
            <a:r>
              <a:rPr lang="ru-RU" dirty="0"/>
              <a:t>			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122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BC9E-6736-81CB-8075-42092B7E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90917-056E-6EAC-D552-3027D757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0874" cy="14605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Анализ нагрузки на сервера и решение </a:t>
            </a:r>
            <a:r>
              <a:rPr lang="en-US" dirty="0"/>
              <a:t>01</a:t>
            </a:r>
            <a:r>
              <a:rPr lang="ru-RU" dirty="0"/>
              <a:t>-04.09 </a:t>
            </a:r>
            <a:br>
              <a:rPr lang="ru-RU" dirty="0"/>
            </a:br>
            <a:endParaRPr lang="ru-RU" dirty="0"/>
          </a:p>
        </p:txBody>
      </p:sp>
      <p:pic>
        <p:nvPicPr>
          <p:cNvPr id="11" name="Объект 10" descr="Изображение выглядит как текст, снимок экрана, че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DEF404-6279-C2E2-7E35-56F91A943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896" y="1098760"/>
            <a:ext cx="4991370" cy="2973254"/>
          </a:xfrm>
        </p:spPr>
      </p:pic>
      <p:pic>
        <p:nvPicPr>
          <p:cNvPr id="13" name="Рисунок 12" descr="Изображение выглядит как текст, снимок экрана, линия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368D7F-4597-6435-4C23-3164BB994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26" y="1098759"/>
            <a:ext cx="5412604" cy="31773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19B520-96FD-3F44-A3D6-15FA87C2112D}"/>
              </a:ext>
            </a:extLst>
          </p:cNvPr>
          <p:cNvSpPr txBox="1"/>
          <p:nvPr/>
        </p:nvSpPr>
        <p:spPr>
          <a:xfrm>
            <a:off x="838200" y="4276069"/>
            <a:ext cx="46000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Кол-во транзакций на 3 сервере после перераспределения нагрузки  ТТ снизилось 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Кол-во транзакций на 1 сервере -увеличилось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2F817B-A4F1-EEE7-E894-3374F44CE25B}"/>
              </a:ext>
            </a:extLst>
          </p:cNvPr>
          <p:cNvSpPr txBox="1"/>
          <p:nvPr/>
        </p:nvSpPr>
        <p:spPr>
          <a:xfrm>
            <a:off x="6929120" y="4531360"/>
            <a:ext cx="467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Нагрузка на 3 сервер снизилась</a:t>
            </a:r>
          </a:p>
        </p:txBody>
      </p:sp>
    </p:spTree>
    <p:extLst>
      <p:ext uri="{BB962C8B-B14F-4D97-AF65-F5344CB8AC3E}">
        <p14:creationId xmlns:p14="http://schemas.microsoft.com/office/powerpoint/2010/main" val="374317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3A06-03F2-C613-413D-27D5DB2D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касс самообслуживания </a:t>
            </a:r>
            <a:r>
              <a:rPr lang="en-US" dirty="0"/>
              <a:t>01</a:t>
            </a:r>
            <a:r>
              <a:rPr lang="ru-RU" dirty="0"/>
              <a:t>-04.09    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84E0D4D-D6EC-DC23-6454-6E271A06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190" y="1238989"/>
            <a:ext cx="3884923" cy="24364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AB45F2-60F7-CC33-6166-E1EA6656F0DA}"/>
              </a:ext>
            </a:extLst>
          </p:cNvPr>
          <p:cNvSpPr txBox="1"/>
          <p:nvPr/>
        </p:nvSpPr>
        <p:spPr>
          <a:xfrm>
            <a:off x="7512908" y="1828800"/>
            <a:ext cx="43866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ТТ </a:t>
            </a:r>
            <a:r>
              <a:rPr lang="en-US" dirty="0"/>
              <a:t>“</a:t>
            </a:r>
            <a:r>
              <a:rPr lang="ru-RU" dirty="0"/>
              <a:t>Ракетный б-р, 14к1</a:t>
            </a:r>
            <a:r>
              <a:rPr lang="en-US" dirty="0"/>
              <a:t>”</a:t>
            </a:r>
            <a:r>
              <a:rPr lang="ru-RU" dirty="0"/>
              <a:t> отсутствуют платежи по кассам самообслуживания.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ТТ </a:t>
            </a:r>
            <a:r>
              <a:rPr lang="en-US" dirty="0"/>
              <a:t>“</a:t>
            </a:r>
            <a:r>
              <a:rPr lang="ru-RU" dirty="0"/>
              <a:t>Ленинский проспект, 162/2</a:t>
            </a:r>
            <a:r>
              <a:rPr lang="en-US" dirty="0"/>
              <a:t>”</a:t>
            </a:r>
            <a:r>
              <a:rPr lang="ru-RU" dirty="0"/>
              <a:t>, </a:t>
            </a:r>
            <a:r>
              <a:rPr lang="en-US" dirty="0"/>
              <a:t>“</a:t>
            </a:r>
            <a:r>
              <a:rPr lang="ru-RU" dirty="0"/>
              <a:t>пр-т Вернадского, 88к3</a:t>
            </a:r>
            <a:r>
              <a:rPr lang="en-US" dirty="0"/>
              <a:t>”</a:t>
            </a:r>
            <a:r>
              <a:rPr lang="ru-RU" dirty="0"/>
              <a:t> и </a:t>
            </a:r>
            <a:r>
              <a:rPr lang="en-US" dirty="0"/>
              <a:t> “</a:t>
            </a:r>
            <a:r>
              <a:rPr lang="ru-RU" dirty="0"/>
              <a:t>ул. Щорса, 26/3</a:t>
            </a:r>
            <a:r>
              <a:rPr lang="en-US" dirty="0"/>
              <a:t>”</a:t>
            </a:r>
            <a:r>
              <a:rPr lang="ru-RU" dirty="0"/>
              <a:t> преобладают платежи на обычных кассах.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ТТ </a:t>
            </a:r>
            <a:r>
              <a:rPr lang="en-US" dirty="0"/>
              <a:t> “</a:t>
            </a:r>
            <a:r>
              <a:rPr lang="ru-RU" dirty="0"/>
              <a:t>Симферопольский б-р, 22</a:t>
            </a:r>
            <a:r>
              <a:rPr lang="en-US" dirty="0"/>
              <a:t>”</a:t>
            </a:r>
            <a:r>
              <a:rPr lang="ru-RU" dirty="0"/>
              <a:t> и </a:t>
            </a:r>
            <a:r>
              <a:rPr lang="en-US" dirty="0"/>
              <a:t>“</a:t>
            </a:r>
            <a:r>
              <a:rPr lang="ru-RU" dirty="0"/>
              <a:t>ул. Чертановская, 20к2</a:t>
            </a:r>
            <a:r>
              <a:rPr lang="en-US" dirty="0"/>
              <a:t>”</a:t>
            </a:r>
            <a:r>
              <a:rPr lang="ru-RU" dirty="0"/>
              <a:t> преобладают платежи на касах самообслуживания.</a:t>
            </a:r>
          </a:p>
        </p:txBody>
      </p:sp>
      <p:pic>
        <p:nvPicPr>
          <p:cNvPr id="4" name="Рисунок 3" descr="Изображение выглядит как текст, снимок экрана, линия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6E2697-E5D8-778A-261D-50B021CAE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66" y="3675459"/>
            <a:ext cx="4869934" cy="293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2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FD8E2-A8E2-6100-6C1C-60AF9D66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касс самообслуживания </a:t>
            </a:r>
            <a:r>
              <a:rPr lang="en-US" dirty="0"/>
              <a:t>01</a:t>
            </a:r>
            <a:r>
              <a:rPr lang="ru-RU" dirty="0"/>
              <a:t>-04.09</a:t>
            </a:r>
          </a:p>
        </p:txBody>
      </p:sp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0A0D7B-0425-4CCC-DAFB-3950716E6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405" y="1521427"/>
            <a:ext cx="4110166" cy="2706695"/>
          </a:xfrm>
        </p:spPr>
      </p:pic>
      <p:pic>
        <p:nvPicPr>
          <p:cNvPr id="7" name="Рисунок 6" descr="Изображение выглядит как текст, чек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5C59F6-EC30-7103-F845-BB460761E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284" y="1521426"/>
            <a:ext cx="4770311" cy="2706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45520B-DBB7-FC7E-D6E4-B19068BD1BB5}"/>
              </a:ext>
            </a:extLst>
          </p:cNvPr>
          <p:cNvSpPr txBox="1"/>
          <p:nvPr/>
        </p:nvSpPr>
        <p:spPr>
          <a:xfrm>
            <a:off x="1255059" y="4733365"/>
            <a:ext cx="5450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Средняя длительность транзакций на кассах самообслуживания более чем в 2 раза больше, чем на обычных кассах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втором графике видно аномальную длину транзакций 1 сентября </a:t>
            </a:r>
          </a:p>
        </p:txBody>
      </p:sp>
    </p:spTree>
    <p:extLst>
      <p:ext uri="{BB962C8B-B14F-4D97-AF65-F5344CB8AC3E}">
        <p14:creationId xmlns:p14="http://schemas.microsoft.com/office/powerpoint/2010/main" val="54003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30B13-A5CB-0750-861E-14EA49B7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39640-F29D-42B2-68CC-2D11496E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993941"/>
            <a:ext cx="11073063" cy="14605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Анализ 1-го сентября по увеличению длительности оплаты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Объект 4" descr="Изображение выглядит как линия, График, текс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651AD3-9DF3-C3BA-2F09-90288E347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947" y="1896713"/>
            <a:ext cx="6841634" cy="42364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C1580-1043-FA39-0703-977BFD9D4863}"/>
              </a:ext>
            </a:extLst>
          </p:cNvPr>
          <p:cNvSpPr txBox="1"/>
          <p:nvPr/>
        </p:nvSpPr>
        <p:spPr>
          <a:xfrm>
            <a:off x="7583581" y="1893149"/>
            <a:ext cx="43831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Утренний всплеск (4-7) на сервере 1 вызван перебоями интернета в магазине "ул. Щорса, 26/3". Магазин "Симферопольский б-р, 22" работал стабильно.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Дневной всплеск (12-16) на сервере 2 связан с маркетинговой акцией, вызвавшей резкий рост транзакций в обоих магазинах, особенно на "Ленинском пр-т, 162/1".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Вечерний всплеск (с 18:00) на сервере 3 обусловлен проблемами системы </a:t>
            </a:r>
            <a:r>
              <a:rPr lang="en" dirty="0"/>
              <a:t>MasterCard </a:t>
            </a:r>
            <a:r>
              <a:rPr lang="ru-RU" dirty="0"/>
              <a:t>в магазине "Ракетный б-р, 14к1".</a:t>
            </a:r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61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A903-3867-FDD9-AE7B-0A42DDBF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488A5-46D1-A480-A400-929F598E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993941"/>
            <a:ext cx="11073063" cy="14605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Анализ 1-го сентября по увеличению длительности оплаты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Объект 4" descr="Изображение выглядит как текст, линия, снимок экран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FCBB6B-2C56-D2AB-7239-FD7003D27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990" y="1724191"/>
            <a:ext cx="6520934" cy="43925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A1B410-2A38-E483-E485-C6587B551A7D}"/>
              </a:ext>
            </a:extLst>
          </p:cNvPr>
          <p:cNvSpPr txBox="1"/>
          <p:nvPr/>
        </p:nvSpPr>
        <p:spPr>
          <a:xfrm>
            <a:off x="7269249" y="3316106"/>
            <a:ext cx="4545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Самые длинные задержки транзакций у платежной системы </a:t>
            </a:r>
            <a:r>
              <a:rPr lang="en-US" dirty="0"/>
              <a:t>Visa.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1708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812F-912C-734E-4A80-FE60AACA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BA15D-F9CD-378E-F9A9-26F09530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993941"/>
            <a:ext cx="11073063" cy="14605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Анализ 1-го сентября по увеличению длительности оплаты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Объект 4" descr="Изображение выглядит как текст, линия, Шрифт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A2D31F-D549-0DB2-E5AB-E301D0A8F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990" y="1922709"/>
            <a:ext cx="6608019" cy="42160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CE1F8-B36A-C425-BAFF-63538CA20B1A}"/>
              </a:ext>
            </a:extLst>
          </p:cNvPr>
          <p:cNvSpPr txBox="1"/>
          <p:nvPr/>
        </p:nvSpPr>
        <p:spPr>
          <a:xfrm>
            <a:off x="7354957" y="2454441"/>
            <a:ext cx="4460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Высокие показатели по задержкам транзакций у 2-х ТТ: пр-т Ленинский и Вернадского		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01.09 с 10 до 15 часов увеличилось время ожидания транзакции. Данные ТТ территориально находятся в одном районе. 		</a:t>
            </a:r>
          </a:p>
        </p:txBody>
      </p:sp>
    </p:spTree>
    <p:extLst>
      <p:ext uri="{BB962C8B-B14F-4D97-AF65-F5344CB8AC3E}">
        <p14:creationId xmlns:p14="http://schemas.microsoft.com/office/powerpoint/2010/main" val="2663089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F776F-C591-5452-2BA5-7B9583E8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</a:t>
            </a:r>
            <a:r>
              <a:rPr lang="ru-RU" dirty="0"/>
              <a:t>5-07.09</a:t>
            </a:r>
            <a:br>
              <a:rPr lang="ru-RU" dirty="0"/>
            </a:br>
            <a:endParaRPr lang="ru-RU" dirty="0"/>
          </a:p>
        </p:txBody>
      </p:sp>
      <p:pic>
        <p:nvPicPr>
          <p:cNvPr id="8" name="Объект 5">
            <a:extLst>
              <a:ext uri="{FF2B5EF4-FFF2-40B4-BE49-F238E27FC236}">
                <a16:creationId xmlns:a16="http://schemas.microsoft.com/office/drawing/2014/main" id="{11CFED36-2A54-7971-494C-AE3D13BFF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2" b="6244"/>
          <a:stretch>
            <a:fillRect/>
          </a:stretch>
        </p:blipFill>
        <p:spPr>
          <a:xfrm>
            <a:off x="0" y="1325162"/>
            <a:ext cx="7723829" cy="42076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8C738E-97C2-A978-B4BA-D88C4928A49F}"/>
              </a:ext>
            </a:extLst>
          </p:cNvPr>
          <p:cNvSpPr txBox="1"/>
          <p:nvPr/>
        </p:nvSpPr>
        <p:spPr>
          <a:xfrm>
            <a:off x="7573617" y="2042102"/>
            <a:ext cx="43135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Расшифровка схемы: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Сиреневый — сервер 1 в период с 00:00 по 09:00 в день 05.09.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Оранжевый — сервер 2 в период 12.00-13.00 в день 07.09.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Красный — сервер 1 в течение всего дня 06.09.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845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4558-E240-7049-43B8-18C1DAF7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7E414-A743-3ED1-4F03-66DCD288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</a:t>
            </a:r>
            <a:r>
              <a:rPr lang="ru-RU" dirty="0"/>
              <a:t>5-07.09</a:t>
            </a:r>
            <a:br>
              <a:rPr lang="ru-RU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EFE99-F7B4-D2E6-BDCD-169A81D52D0B}"/>
              </a:ext>
            </a:extLst>
          </p:cNvPr>
          <p:cNvSpPr txBox="1"/>
          <p:nvPr/>
        </p:nvSpPr>
        <p:spPr>
          <a:xfrm>
            <a:off x="7435296" y="2828835"/>
            <a:ext cx="4373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 первому серверу: </a:t>
            </a:r>
          </a:p>
          <a:p>
            <a:r>
              <a:rPr lang="ru-RU" dirty="0"/>
              <a:t>Средняя длительность транзакций 05.09. в период с 0 до 8 часов выше, чем за аналогичный период 06.09. и 07.09.</a:t>
            </a:r>
          </a:p>
        </p:txBody>
      </p:sp>
      <p:pic>
        <p:nvPicPr>
          <p:cNvPr id="6" name="Рисунок 5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DC7630-4A25-A8B9-CC82-57CEE9DF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589"/>
            <a:ext cx="7133086" cy="40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19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803A-D1BB-399A-594E-842D0956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2705F-E2BF-E5E1-2430-9F487BB7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</a:t>
            </a:r>
            <a:r>
              <a:rPr lang="ru-RU" dirty="0"/>
              <a:t>5-07.09</a:t>
            </a:r>
            <a:br>
              <a:rPr lang="ru-RU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6C48A-6B89-7894-523F-3E098159CE89}"/>
              </a:ext>
            </a:extLst>
          </p:cNvPr>
          <p:cNvSpPr txBox="1"/>
          <p:nvPr/>
        </p:nvSpPr>
        <p:spPr>
          <a:xfrm>
            <a:off x="7280496" y="2584174"/>
            <a:ext cx="46663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 второму серверу, по обычным кассам: </a:t>
            </a:r>
          </a:p>
          <a:p>
            <a:endParaRPr lang="ru-RU" dirty="0"/>
          </a:p>
          <a:p>
            <a:r>
              <a:rPr lang="ru-RU" dirty="0"/>
              <a:t>Средняя длительность транзакции 07.09. в период с 12 до 13 часов выше, чем за аналогичный период 05.09. и 06.09.</a:t>
            </a:r>
          </a:p>
          <a:p>
            <a:endParaRPr lang="ru-RU" dirty="0"/>
          </a:p>
        </p:txBody>
      </p:sp>
      <p:pic>
        <p:nvPicPr>
          <p:cNvPr id="8" name="Объект 7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79097D-88F6-808E-EF32-781534316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164" y="1855946"/>
            <a:ext cx="7035331" cy="3958054"/>
          </a:xfrm>
        </p:spPr>
      </p:pic>
    </p:spTree>
    <p:extLst>
      <p:ext uri="{BB962C8B-B14F-4D97-AF65-F5344CB8AC3E}">
        <p14:creationId xmlns:p14="http://schemas.microsoft.com/office/powerpoint/2010/main" val="348559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1ADE-42E8-5182-5A00-74ED3CE7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19833-C0EC-DFC7-B235-1FB6CD33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торговых точек </a:t>
            </a:r>
            <a:r>
              <a:rPr lang="en-US" dirty="0"/>
              <a:t>0</a:t>
            </a:r>
            <a:r>
              <a:rPr lang="ru-RU" dirty="0"/>
              <a:t>5-07.09</a:t>
            </a:r>
            <a:br>
              <a:rPr lang="ru-RU" dirty="0"/>
            </a:b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BB6E82-0A9A-553F-215F-BB44A6AC2570}"/>
              </a:ext>
            </a:extLst>
          </p:cNvPr>
          <p:cNvSpPr txBox="1"/>
          <p:nvPr/>
        </p:nvSpPr>
        <p:spPr>
          <a:xfrm>
            <a:off x="7517295" y="2377740"/>
            <a:ext cx="42738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первом сервере на кассах самообслуживания, у клиентов с программой лояльности: </a:t>
            </a:r>
          </a:p>
          <a:p>
            <a:endParaRPr lang="ru-RU" dirty="0"/>
          </a:p>
          <a:p>
            <a:r>
              <a:rPr lang="ru-RU" dirty="0"/>
              <a:t>Средняя длительность транзакции 06.09. в течение всего дня выше, чем за аналогичный период 07.09. (05.09.  не учитывается, т.к. значения в этот день считаются аномальными)		</a:t>
            </a:r>
          </a:p>
        </p:txBody>
      </p:sp>
      <p:pic>
        <p:nvPicPr>
          <p:cNvPr id="3" name="Объект 11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A767CE-31F9-4975-A0D7-490A7C34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938"/>
            <a:ext cx="7216790" cy="399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60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3BADC-1A72-A501-C5D6-BEAC7F58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C5D8A-89CF-631A-B39E-E283BAB6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r>
              <a:rPr lang="ru-RU" dirty="0"/>
              <a:t>Анализ программы лояльности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C852A-6091-1A02-1D5E-8B6FA56F5E6F}"/>
              </a:ext>
            </a:extLst>
          </p:cNvPr>
          <p:cNvSpPr txBox="1"/>
          <p:nvPr/>
        </p:nvSpPr>
        <p:spPr>
          <a:xfrm>
            <a:off x="8253176" y="2722869"/>
            <a:ext cx="3938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Проведенная 7 сентября акция дала дополнительную прибыль. При неизменном количестве транзакций, средняя сумма чека выросла на 8%, что дало чистую прибыль в размере 2,65 млн руб.			</a:t>
            </a:r>
          </a:p>
          <a:p>
            <a:endParaRPr lang="ru-RU" dirty="0"/>
          </a:p>
        </p:txBody>
      </p:sp>
      <p:pic>
        <p:nvPicPr>
          <p:cNvPr id="8" name="Объект 7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AF9534-1F26-8F84-13D8-ABB3B5B0D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776" y="1955221"/>
            <a:ext cx="6883400" cy="4191000"/>
          </a:xfrm>
        </p:spPr>
      </p:pic>
    </p:spTree>
    <p:extLst>
      <p:ext uri="{BB962C8B-B14F-4D97-AF65-F5344CB8AC3E}">
        <p14:creationId xmlns:p14="http://schemas.microsoft.com/office/powerpoint/2010/main" val="2132161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3C72C-2950-74E0-3746-BB9A5CC1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4976B-EA36-8941-2D6D-4573C8EB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r>
              <a:rPr lang="ru-RU" dirty="0"/>
              <a:t>Анализ программы лояльности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89852-73F0-6B5B-1D2A-CE6CA7091E20}"/>
              </a:ext>
            </a:extLst>
          </p:cNvPr>
          <p:cNvSpPr txBox="1"/>
          <p:nvPr/>
        </p:nvSpPr>
        <p:spPr>
          <a:xfrm>
            <a:off x="8384584" y="2696705"/>
            <a:ext cx="3611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Средняя скидка за 1 транзакцию: 131,65 руб.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существующих условиях программы лояльности, компания теряет 4 млн. руб. за три дня</a:t>
            </a:r>
          </a:p>
        </p:txBody>
      </p:sp>
      <p:pic>
        <p:nvPicPr>
          <p:cNvPr id="8" name="Объект 7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889483-1D5A-086A-7889-5E4E6970E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2064"/>
            <a:ext cx="7094838" cy="4387597"/>
          </a:xfrm>
        </p:spPr>
      </p:pic>
    </p:spTree>
    <p:extLst>
      <p:ext uri="{BB962C8B-B14F-4D97-AF65-F5344CB8AC3E}">
        <p14:creationId xmlns:p14="http://schemas.microsoft.com/office/powerpoint/2010/main" val="2754140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5F46-BFBF-D5CD-AF7C-0B643CC9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94134-F9BE-A1D4-D0F3-EB43F2CB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r>
              <a:rPr lang="ru-RU" dirty="0"/>
              <a:t>Анализ программы лояльности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0A3CF5D-F27F-5E0D-CCB5-E2F9154D3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23" y="1433261"/>
            <a:ext cx="7837249" cy="452149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1E8F61-EE61-4EAD-7D49-B180298E417C}"/>
              </a:ext>
            </a:extLst>
          </p:cNvPr>
          <p:cNvSpPr txBox="1"/>
          <p:nvPr/>
        </p:nvSpPr>
        <p:spPr>
          <a:xfrm>
            <a:off x="8756542" y="3068664"/>
            <a:ext cx="3177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Самый затратный уровень скидки по программе лояльности  составляет 3-4%</a:t>
            </a:r>
          </a:p>
        </p:txBody>
      </p:sp>
    </p:spTree>
    <p:extLst>
      <p:ext uri="{BB962C8B-B14F-4D97-AF65-F5344CB8AC3E}">
        <p14:creationId xmlns:p14="http://schemas.microsoft.com/office/powerpoint/2010/main" val="319432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E956-0D0A-042F-453A-8EEA8139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F5DA2-3A85-D1EA-AD90-7F4CD2F1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r>
              <a:rPr lang="ru-RU" dirty="0"/>
              <a:t>Анализ программы лояльности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62240B-1481-E950-4921-A5A0B443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" y="1690688"/>
            <a:ext cx="6995260" cy="419715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76720E-ED8F-7707-BDFD-DB18A58480EE}"/>
              </a:ext>
            </a:extLst>
          </p:cNvPr>
          <p:cNvSpPr txBox="1"/>
          <p:nvPr/>
        </p:nvSpPr>
        <p:spPr>
          <a:xfrm>
            <a:off x="7842142" y="2743200"/>
            <a:ext cx="39365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 помощью корректировки программы лояльности компания может сэкономить 504952, 22 руб. (12</a:t>
            </a:r>
            <a:r>
              <a:rPr lang="ru-RU" dirty="0">
                <a:sym typeface="Wingdings" pitchFamily="2" charset="2"/>
              </a:rPr>
              <a:t>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ym typeface="Wingdings" pitchFamily="2" charset="2"/>
              </a:rPr>
              <a:t>Клиенты имеющие скидку в размере 4% сравнялись по затратам с клиентами со скидкой 3%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106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5D6E-D563-4096-9863-84917C10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BCD4E-30BF-FE5E-6700-875A22ED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br>
              <a:rPr lang="ru-RU" dirty="0"/>
            </a:br>
            <a:r>
              <a:rPr lang="en-US" dirty="0"/>
              <a:t>Dashboard</a:t>
            </a:r>
            <a:r>
              <a:rPr lang="ru-RU" dirty="0"/>
              <a:t>. Оптимизация за 7 дней сентября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7FFB34-A2C5-1C91-FA7F-3E4033F65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392" y="2666871"/>
            <a:ext cx="7046012" cy="223454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F054D6-2334-C39C-E302-6BBDF4CDB9AC}"/>
              </a:ext>
            </a:extLst>
          </p:cNvPr>
          <p:cNvSpPr txBox="1"/>
          <p:nvPr/>
        </p:nvSpPr>
        <p:spPr>
          <a:xfrm>
            <a:off x="8303740" y="2666871"/>
            <a:ext cx="35711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выпадающем списке выбираем интересующие нас параметры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Адрес ТТ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Валюту платежа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Максимальный и минимальный платежи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910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652E-4EED-C67C-3536-3572E2E1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B2F03-9EA5-9247-3DA5-18F0E791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br>
              <a:rPr lang="ru-RU" dirty="0"/>
            </a:br>
            <a:r>
              <a:rPr lang="en-US" dirty="0"/>
              <a:t>Dashboard</a:t>
            </a:r>
            <a:r>
              <a:rPr lang="ru-RU" dirty="0"/>
              <a:t>. Оптимизация за 7 дней сентября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6" name="Объект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1DA9D2-B59C-6225-E894-CA3D8D55B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68" y="1567120"/>
            <a:ext cx="7187041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256179-A04B-1575-C778-B22658B5B6C6}"/>
              </a:ext>
            </a:extLst>
          </p:cNvPr>
          <p:cNvSpPr txBox="1"/>
          <p:nvPr/>
        </p:nvSpPr>
        <p:spPr>
          <a:xfrm>
            <a:off x="7896886" y="2828835"/>
            <a:ext cx="4015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зависимости от выбранных параметров график кол-ва транзакций и среднего платежа по дням будет меняется.</a:t>
            </a:r>
          </a:p>
        </p:txBody>
      </p:sp>
    </p:spTree>
    <p:extLst>
      <p:ext uri="{BB962C8B-B14F-4D97-AF65-F5344CB8AC3E}">
        <p14:creationId xmlns:p14="http://schemas.microsoft.com/office/powerpoint/2010/main" val="3753302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039A3-21A0-D3DC-46F7-AA747767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16C40-81AF-58E3-5267-BCBD7F2F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dirty="0"/>
            </a:br>
            <a:br>
              <a:rPr lang="ru-RU" dirty="0"/>
            </a:br>
            <a:r>
              <a:rPr lang="en-US" dirty="0"/>
              <a:t>Dashboard</a:t>
            </a:r>
            <a:r>
              <a:rPr lang="ru-RU" dirty="0"/>
              <a:t>. Оптимизация за 7 дней сентября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5A4FCF-AAE8-E946-6483-DC22B3357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4181"/>
            <a:ext cx="7067919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C33576-A5A8-A44A-2297-4F9B912DEE43}"/>
              </a:ext>
            </a:extLst>
          </p:cNvPr>
          <p:cNvSpPr txBox="1"/>
          <p:nvPr/>
        </p:nvSpPr>
        <p:spPr>
          <a:xfrm>
            <a:off x="8204886" y="2828835"/>
            <a:ext cx="3793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График с разбивкой по названиям платежных систем также будет меняться в зависимости от выбранных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15925104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10051</TotalTime>
  <Words>971</Words>
  <Application>Microsoft Macintosh PowerPoint</Application>
  <PresentationFormat>Широкоэкранный</PresentationFormat>
  <Paragraphs>94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Wingdings</vt:lpstr>
      <vt:lpstr>Тема Office</vt:lpstr>
      <vt:lpstr>Анализ торговых точек 01.09-07.09.2022 г.</vt:lpstr>
      <vt:lpstr>Содержание:</vt:lpstr>
      <vt:lpstr>Анализ торговых точек 01-04.09 </vt:lpstr>
      <vt:lpstr>Анализ торговых точек 01-04.09</vt:lpstr>
      <vt:lpstr>Анализ торговых точек 01-04.09</vt:lpstr>
      <vt:lpstr>Анализ нагрузки на сервера и решение 01-04.09  </vt:lpstr>
      <vt:lpstr>Анализ нагрузки на сервера и решение 01-04.09  </vt:lpstr>
      <vt:lpstr>Анализ касс самообслуживания 01-04.09     </vt:lpstr>
      <vt:lpstr>Анализ касс самообслуживания 01-04.09</vt:lpstr>
      <vt:lpstr>Анализ 1-го сентября по увеличению длительности оплаты  </vt:lpstr>
      <vt:lpstr>Анализ 1-го сентября по увеличению длительности оплаты  </vt:lpstr>
      <vt:lpstr>Анализ 1-го сентября по увеличению длительности оплаты  </vt:lpstr>
      <vt:lpstr>Анализ торговых точек 05-07.09 </vt:lpstr>
      <vt:lpstr>Анализ торговых точек 05-07.09 </vt:lpstr>
      <vt:lpstr>Анализ торговых точек 05-07.09 </vt:lpstr>
      <vt:lpstr>Анализ торговых точек 05-07.09 </vt:lpstr>
      <vt:lpstr> Анализ программы лояльности  </vt:lpstr>
      <vt:lpstr> Анализ программы лояльности  </vt:lpstr>
      <vt:lpstr> Анализ программы лояльности  </vt:lpstr>
      <vt:lpstr> Анализ программы лояльности  </vt:lpstr>
      <vt:lpstr>  Dashboard. Оптимизация за 7 дней сентября   </vt:lpstr>
      <vt:lpstr>  Dashboard. Оптимизация за 7 дней сентября   </vt:lpstr>
      <vt:lpstr>  Dashboard. Оптимизация за 7 дней сентября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d39806</dc:creator>
  <cp:lastModifiedBy>d39806</cp:lastModifiedBy>
  <cp:revision>18</cp:revision>
  <dcterms:created xsi:type="dcterms:W3CDTF">2025-10-24T11:20:53Z</dcterms:created>
  <dcterms:modified xsi:type="dcterms:W3CDTF">2025-11-17T17:17:19Z</dcterms:modified>
</cp:coreProperties>
</file>